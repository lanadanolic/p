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Vježba 1, tjedan 1. Prati predavanje »Uvod u paralelno programiranje«. Upute za studente: Vjezba1_upute.html.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Svaki projekt ima README.md s koracima i .vscode mapu s konfiguracijama pokretanja (Debug i Release). Provjeriti da u učionici postoji .NET 10 SDK; ako ne, koristiti net8.0.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Zamjena za stari način polaganja (4 domaće zadaće, usmeni ispit preko Teamsa). Podjela unutar 20 % i 80 % (npr. 10 + 10 i 40 + 40) još nije potvrđena pa nije navedena na slajdu.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Usklađeno s planom po tjednima iz uvodnog predavanja. Tjedan 7: rekapitulacija; tjedni 8 i 15: ispiti. Vježbe od tjedna 3 nadalje su okvirne; alat za razmjenu poruka još nije odabran.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Povezano s Zadatkom 1. Interaktivno: Vizualizacije/delegati.html, odjeljak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1c (uputa). Multicast delegat vraća samo zadnju vrijednost; to je čest izvor pogrešnih očekivanja.</a:t>
            </a:r>
          </a:p>
          <a:p/>
          <a:p>
            <a:r>
              <a:t>Interaktivno: Vizualizacije/delegati.html, odjeljak 1 (lista poziva).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4. Ako želite još primjera: Action bez parametara, Func&lt;int&gt; bez parametara koji vraća int.</a:t>
            </a:r>
          </a:p>
          <a:p/>
          <a:p>
            <a:r>
              <a:t>Interaktivno: Vizualizacije/delegati.html, odjeljak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Spajaju se stari slajdovi: anonimne funkcije, oblik lambde, primjeri i višenaredbeno tijelo. Zadatak 3.</a:t>
            </a:r>
          </a:p>
          <a:p/>
          <a:p>
            <a:r>
              <a:t>Interaktivno: Vizualizacije/delegati.html, odjeljak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3 i zamka A iz vježbe 2. foreach hvata novu varijablu po iteraciji (od C# 5), for ne. Interaktivno: Vizualizacije/delegati.html, odjeljak 3; Tjedan 02 - Taskovi i zamke/Vizualizacije/zamke.html, odjeljak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Generičke klase i metode nisu bile objašnjene u staroj prezentaciji; potrebno za zadatak 5. HTML: delegati.html, odjeljak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1. Isti opis nalazi se u Vjezba1_upute.html. Ispis je primjer, ne mjerenje. Rješenje: mapa Rjesenja (nastavnik), Zadatak1.</a:t>
            </a:r>
          </a:p>
          <a:p/>
          <a:p>
            <a:r>
              <a:t>Interaktivno: Vizualizacije/delegati.html, odjeljak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2. Isti opis nalazi se u Vjezba1_upute.html. Ispis je primjer, ne mjerenje. Rješenje: mapa Rjesenja (nastavnik), Zadatak2.</a:t>
            </a:r>
          </a:p>
          <a:p/>
          <a:p>
            <a:r>
              <a:t>Interaktivno: Vizualizacije/delegati.html, odjeljak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3. Isti opis nalazi se u Vjezba1_upute.html. Ispis je primjer, ne mjerenje. Rješenje: mapa Rjesenja (nastavnik), Zadatak3.</a:t>
            </a:r>
          </a:p>
          <a:p/>
          <a:p>
            <a:r>
              <a:t>Interaktivno: Vizualizacije/delegati.html, odjeljak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4. Isti opis nalazi se u Vjezba1_upute.html. Ispis je primjer, ne mjerenje. Rješenje: mapa Rjesenja (nastavnik), Zadatak4.</a:t>
            </a:r>
          </a:p>
          <a:p/>
          <a:p>
            <a:r>
              <a:t>Interaktivno: Vizualizacije/delegati.html, odjeljak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5. Isti opis nalazi se u Vjezba1_upute.html. Ispis je primjer, ne mjerenje. Rješenje: mapa Rjesenja (nastavnik), Zadatak5.</a:t>
            </a:r>
          </a:p>
          <a:p/>
          <a:p>
            <a:r>
              <a:t>Interaktivno: Vizualizacije/delegati.html, odjeljak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Interaktivno: Vizualizacije/delegati.html, odjeljak 2 (uvjet kao delegat, kao kod Where).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37A1-8BDF-464D-E0C9-37DE2473F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53BA-EBD5-10B8-ACB3-CC013005A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B631E-2C88-7FD7-B085-D2811AD31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CCCC9-0B19-0351-DBC6-33A8F341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4ABD5-4453-BC9C-BD96-4B308578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075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E6FF-59BE-21D3-1600-63FBCB68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583F-AC47-1036-7A57-668ECD37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6299-E705-B57D-D302-7CA95850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3B461-6502-2BB5-991F-3303C19F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30613-8424-6562-D3B6-65935B1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422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1F12-418B-4BC1-8367-8B0831B2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082C1-EBB5-4A15-E845-B0514AEDB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4D525-30CC-F929-0321-32AF60A4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9422D-FE9E-3BA3-18F0-85519738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66F1-822E-F261-9298-1067ECCE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676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F9AB-9028-BC70-F902-7B085282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82AE-3B1F-1FB7-1E12-D9927C4A3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C022B-E315-0FBA-5635-7E2685AB1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7557C-CFB9-6286-41A3-D3062CD27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FC8F5-BEEB-A5CF-1D30-DA94E536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84AC-CFF0-1475-D021-3FEB5869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84849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869-432A-6BD4-881C-E8FB6AB0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F81D8-01C0-D6D1-570A-2A52C819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7E58D-F572-8394-0E65-4D12ABD7C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56DDD-83A6-D51C-5AFB-E3E86FD33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D9192-09E5-30B0-A24B-CA4CB67C6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41EC6-74AE-09FC-3EC8-BB68421C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57A97-64C2-C9B6-E837-A7E089F0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365B0-C920-6E14-A1F6-A7D75325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944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B48D-0BBE-48DD-F9E3-52086CBC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8D7CD-3366-523B-9475-472F63D6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4A84B-16F3-FC98-5044-965C74C5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D29FA-5293-14ED-2C46-B9563074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0347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6D936-9A44-9913-5DBA-215F29210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4FD84-BD3E-F48D-F818-F93F7E55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4E99-2735-5A88-16A4-412EFB77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2421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8014-DA8B-0402-1029-634B5DA06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6AF1-00B5-DF81-F77D-49D735816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D857E-5D27-ADEC-A40C-F047EAC3D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2D3F0-7291-180B-A979-7E2004FA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F2F26-5700-5A33-5B40-A59E1E80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157E4-3E1F-840C-70F5-DDE8654A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8533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2531-110C-2774-61D5-4B629B9C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21B68-FED2-9E0F-4ED2-9B93A3450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97D0F-0672-E87B-7B18-E54D21258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D9CFD-8D51-72C2-0B91-AA6C9341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1152A-76D9-2ED1-FA3B-946A62C4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284DA-710E-81AD-6675-8FF8A451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0292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662B-9E08-02AE-6400-54FB9FB3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055C1-B116-862D-724C-E4602BF9D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C1BBF-F75F-B87D-6366-CA55AC37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2A51B-EC39-8691-0632-7FA67756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296A-B25A-FB13-329B-9E08F5C8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4275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123DF-6D84-7460-3E71-B4CFDAA24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6B03E-6396-9751-84C9-E9E358451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38C4-D817-2BDC-5D20-EA8FE7D8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89E31-39E2-DFCD-ACC5-D06A8654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EF8F-727A-3C55-E8F7-26843E3C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4312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283C-F71E-B508-36ED-185558264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71ADE-B9DC-2F91-F72B-BF346D4F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FE45-3C0F-C992-188F-0912EFF1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DD3C-2B70-E6B1-A03E-C1E6512A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EBB4-2906-80FA-F2DD-D3532448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633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AE90-A53E-AE11-D7BA-67A7D23E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8DF9-FAAF-9EB4-2958-7050FA44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965EF-E490-AF2D-0513-7DD53F6C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B3769-7117-F66E-8EA4-AF478D39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2FCF-9A98-0DF2-8ACC-8D23457D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11369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6027-865E-1A31-9A54-510C5639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9A411-343C-2C96-3BCE-85A473018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9492C-5071-8598-E0B8-D856705E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3F8B6-6D66-EA4B-8DDA-6CD8DD1F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E9F93-B495-0B4B-591B-1F7DBA28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3819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2B2A-2E5E-37ED-28A7-A8492F5A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35BB-FFC7-E457-E725-8570F4B90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2628B-27A1-36ED-39A1-279293E5A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ED8CC-6B02-BF39-1DEE-58BE089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EE86-F753-5205-7A66-8D306D43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EC14A-6BAD-41E7-675F-B36CC7C8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5470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1751-049C-F4F3-8979-4F28E6E0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27120-726D-6299-1DEF-1B81B009E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4F83B-B6AD-E51F-25AD-6CDD2FA7B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A9194-1A03-1F9B-1AA6-1EB648F01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9A7DE-6BFB-2450-0074-BAB17B17E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65664-6D68-3A01-75D3-26CF9AD2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B5764-50D9-F040-CA4D-099087E5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379F2-3A22-15C7-005C-7FDE0032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00504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6249-CD6B-76CE-02CA-D870EB13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1FA05-6EE8-0493-5D5B-95F1C04D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3C212-834C-C1E2-ABC8-1D54C032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D7231-E22D-5503-E662-2739C2B4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96964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83DF2-EF35-1DB5-D215-CB1196B6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1D79A-FC87-C23A-2C0B-EC5E30D8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6EAB6-3B36-6648-32F2-2BC61D90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08407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10F8-5CF0-FF78-31E5-A6753CBC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AD75-58AA-3E4C-CDC7-071938F98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7E71D-652D-205E-2FE3-C5AB0130A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5A129-1028-D089-007D-0AE39AF9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20108-3F60-950F-2403-3BC817C3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94EF5-0732-D87D-0DBF-338A539E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49085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6BEA-5C17-EF71-FC2A-E2CE01BC3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09999-04A9-93D1-3D21-19E11510E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51FBF-0610-2521-B50A-A4E7D3065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8E41E-22A2-9B95-DF49-436BBF12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9A19F-978F-8F52-31F7-696D113F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1AC31-2A6F-01C6-FFAB-EC8A89B9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82598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BE9B-4DBF-CD39-8D7D-2328B8EB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415E1-4115-5E46-282C-58F38A951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3086-95AD-A96F-92F2-999B2DF0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6ED61-CCD8-05E4-1741-B33377AD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92E81-2914-906E-19F0-64AD7C97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438380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907D2-211B-EDF2-A6D7-31E2060DF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34AEC-3D76-D0C2-21B3-AF65C1A35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73EB4-4E88-AB7C-C45E-67B14939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67F53-8C1B-3812-79B1-65A9CC3F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27D03-B471-739A-BAA7-6AEA6C38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361812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A71A0-8E3C-6E90-68E2-AC3FFD92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A9CF7-7DA5-3331-F188-5D6A8E1D7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B8E49-4C19-003B-AE54-F67356F4A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41D03-DC94-55A7-D1CB-0E1E8729E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3E95-2CD0-87F1-ACA3-545FD51FC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406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B6166-1C7C-8264-FA2D-AE521EB7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7DF0-374C-EF5C-9E65-E4D6A56BF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B1152-A74C-398D-CC4E-A32484F7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45C3-55EE-3302-4229-11E4A996F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3C372-CBCD-F5B7-530E-CCF6A02AE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7648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Paralelno programiranje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Vježba 1: delegati i lambda izrazi</a:t>
            </a:r>
          </a:p>
          <a:p>
            <a:r>
              <a:t>Marin Aglić Čuvić, prema predavanjima Tonćija Dadića</a:t>
            </a:r>
          </a:p>
          <a:p>
            <a:r>
              <a:t>Akademska godina 2026/2027.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Priprema okruženja za vježbe</a:t>
            </a:r>
          </a:p>
        </p:txBody>
      </p:sp>
      <p:sp>
        <p:nvSpPr>
          <p:cNvPr id="3" name="Setup card 1"/>
          <p:cNvSpPr/>
          <p:nvPr/>
        </p:nvSpPr>
        <p:spPr>
          <a:xfrm>
            <a:off x="841248" y="155448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tup num 1"/>
          <p:cNvSpPr/>
          <p:nvPr/>
        </p:nvSpPr>
        <p:spPr>
          <a:xfrm>
            <a:off x="1069848" y="1737360"/>
            <a:ext cx="502920" cy="502920"/>
          </a:xfrm>
          <a:prstGeom prst="ellipse">
            <a:avLst/>
          </a:prstGeom>
          <a:solidFill>
            <a:schemeClr val="accent1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Instalirajte .NET 10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514600"/>
            <a:ext cx="2926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Preuzmite ga s dotnet.microsoft.com/en-us/download.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Provjera u terminalu: dotnet --list-sdks mora ispisati verziju 10.x.</a:t>
            </a:r>
          </a:p>
        </p:txBody>
      </p:sp>
      <p:sp>
        <p:nvSpPr>
          <p:cNvPr id="7" name="Setup card 2"/>
          <p:cNvSpPr/>
          <p:nvPr/>
        </p:nvSpPr>
        <p:spPr>
          <a:xfrm>
            <a:off x="4453128" y="155448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3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tup num 2"/>
          <p:cNvSpPr/>
          <p:nvPr/>
        </p:nvSpPr>
        <p:spPr>
          <a:xfrm>
            <a:off x="4681728" y="1737360"/>
            <a:ext cx="502920" cy="502920"/>
          </a:xfrm>
          <a:prstGeom prst="ellipse">
            <a:avLst/>
          </a:prstGeom>
          <a:solidFill>
            <a:schemeClr val="accent3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Odaberite okruženje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514600"/>
            <a:ext cx="2926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Visual Studio 2026 (radno opterećenje za .NET)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JetBrains Rider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Visual Studio Code uz proširenje C# Dev Kit</a:t>
            </a:r>
          </a:p>
        </p:txBody>
      </p:sp>
      <p:sp>
        <p:nvSpPr>
          <p:cNvPr id="11" name="Setup card 3"/>
          <p:cNvSpPr/>
          <p:nvPr/>
        </p:nvSpPr>
        <p:spPr>
          <a:xfrm>
            <a:off x="8065008" y="155448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2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tup num 3"/>
          <p:cNvSpPr/>
          <p:nvPr/>
        </p:nvSpPr>
        <p:spPr>
          <a:xfrm>
            <a:off x="8293608" y="1737360"/>
            <a:ext cx="502920" cy="502920"/>
          </a:xfrm>
          <a:prstGeom prst="ellipse">
            <a:avLst/>
          </a:prstGeom>
          <a:solidFill>
            <a:schemeClr val="accent2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Otvorite i pokrenite projekt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514600"/>
            <a:ext cx="2926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Visual Studio i Rider: otvorite Vjezba1.sln.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VS Code: File &gt; Open Folder, mapa projekta.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Pokretanje: F5 ili dotnet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49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chemeClr val="tx2"/>
                </a:solidFill>
              </a:rPr>
              <a:t>Za mjerenje vremena pokrećite program u Release konfiguraciji, ne u Debugu.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064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Imate samo Visual Studio 2022? U datoteci .csproj promijenite net10.0 u net8.0 (u VS Codeu i u .vscode/launch.json). Zadaci rade jednako.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Polaganje kolegija</a:t>
            </a:r>
          </a:p>
        </p:txBody>
      </p:sp>
      <p:sp>
        <p:nvSpPr>
          <p:cNvPr id="3" name="Card 1"/>
          <p:cNvSpPr/>
          <p:nvPr/>
        </p:nvSpPr>
        <p:spPr>
          <a:xfrm>
            <a:off x="841248" y="1645920"/>
            <a:ext cx="3383280" cy="3017520"/>
          </a:xfrm>
          <a:prstGeom prst="roundRect">
            <a:avLst>
              <a:gd name="adj" fmla="val 8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8288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chemeClr val="accent1"/>
                </a:solidFill>
              </a:rPr>
              <a:t>70 %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chemeClr val="tx1"/>
                </a:solidFill>
              </a:rPr>
              <a:t>prisutnost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34290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chemeClr val="tx1"/>
                </a:solidFill>
              </a:rPr>
              <a:t>na predavanjima i na vježbama, za svako zasebno</a:t>
            </a:r>
          </a:p>
        </p:txBody>
      </p:sp>
      <p:sp>
        <p:nvSpPr>
          <p:cNvPr id="7" name="Card 2"/>
          <p:cNvSpPr/>
          <p:nvPr/>
        </p:nvSpPr>
        <p:spPr>
          <a:xfrm>
            <a:off x="4453128" y="1645920"/>
            <a:ext cx="3383280" cy="3017520"/>
          </a:xfrm>
          <a:prstGeom prst="roundRect">
            <a:avLst>
              <a:gd name="adj" fmla="val 8000"/>
            </a:avLst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8288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chemeClr val="accent3"/>
                </a:solidFill>
              </a:rPr>
              <a:t>20 %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chemeClr val="tx1"/>
                </a:solidFill>
              </a:rPr>
              <a:t>ocjene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34290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chemeClr val="tx1"/>
                </a:solidFill>
              </a:rPr>
              <a:t>dvije domaće zadaće</a:t>
            </a:r>
          </a:p>
        </p:txBody>
      </p:sp>
      <p:sp>
        <p:nvSpPr>
          <p:cNvPr id="11" name="Card 3"/>
          <p:cNvSpPr/>
          <p:nvPr/>
        </p:nvSpPr>
        <p:spPr>
          <a:xfrm>
            <a:off x="8065008" y="1645920"/>
            <a:ext cx="3383280" cy="3017520"/>
          </a:xfrm>
          <a:prstGeom prst="roundRect">
            <a:avLst>
              <a:gd name="adj" fmla="val 8000"/>
            </a:avLst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8288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chemeClr val="accent2"/>
                </a:solidFill>
              </a:rPr>
              <a:t>80 %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chemeClr val="tx1"/>
                </a:solidFill>
              </a:rPr>
              <a:t>ocjene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34290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chemeClr val="tx1"/>
                </a:solidFill>
              </a:rPr>
              <a:t>dva ispita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3776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Vježbe se ne ocjenjuju, ali se evidentira prisutnost. Bez 70 % prisutnosti nema potpisa.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Domaće zadaće su samostalan rad. Zadaci i rokovi bit će objavljeni naknadno.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Sadržaj vježbi (moguće izmjene)</a:t>
            </a:r>
          </a:p>
        </p:txBody>
      </p:sp>
      <p:sp>
        <p:nvSpPr>
          <p:cNvPr id="3" name="Num 1"/>
          <p:cNvSpPr/>
          <p:nvPr/>
        </p:nvSpPr>
        <p:spPr>
          <a:xfrm>
            <a:off x="841248" y="1554480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55448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Delegati, Action, Func, lambda izrazi,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tjedan 1</a:t>
            </a:r>
          </a:p>
        </p:txBody>
      </p:sp>
      <p:sp>
        <p:nvSpPr>
          <p:cNvPr id="6" name="Num 2"/>
          <p:cNvSpPr/>
          <p:nvPr/>
        </p:nvSpPr>
        <p:spPr>
          <a:xfrm>
            <a:off x="841248" y="2212848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128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Taskovi, ubrzanje, prve zamke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1284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tjedan 2</a:t>
            </a:r>
          </a:p>
        </p:txBody>
      </p:sp>
      <p:sp>
        <p:nvSpPr>
          <p:cNvPr id="9" name="Num 3"/>
          <p:cNvSpPr/>
          <p:nvPr/>
        </p:nvSpPr>
        <p:spPr>
          <a:xfrm>
            <a:off x="841248" y="2871215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71215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Parallel.For, faktor ubrzanja, data 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871215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tjedni 3–4</a:t>
            </a:r>
          </a:p>
        </p:txBody>
      </p:sp>
      <p:sp>
        <p:nvSpPr>
          <p:cNvPr id="12" name="Num 4"/>
          <p:cNvSpPr/>
          <p:nvPr/>
        </p:nvSpPr>
        <p:spPr>
          <a:xfrm>
            <a:off x="841248" y="3529584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29584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Kanceliranje taskova, suma prefiksa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52958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tjedni 5–6</a:t>
            </a:r>
          </a:p>
        </p:txBody>
      </p:sp>
      <p:sp>
        <p:nvSpPr>
          <p:cNvPr id="15" name="Num 5"/>
          <p:cNvSpPr/>
          <p:nvPr/>
        </p:nvSpPr>
        <p:spPr>
          <a:xfrm>
            <a:off x="841248" y="4187952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8795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Razmjena poruka: slanje, obrasci, zastoj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18795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tjedni 9–11</a:t>
            </a:r>
          </a:p>
        </p:txBody>
      </p:sp>
      <p:sp>
        <p:nvSpPr>
          <p:cNvPr id="18" name="Num 6"/>
          <p:cNvSpPr/>
          <p:nvPr/>
        </p:nvSpPr>
        <p:spPr>
          <a:xfrm>
            <a:off x="841248" y="4846320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463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Producent–potrošač i red poruka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463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tjedan 12</a:t>
            </a:r>
          </a:p>
        </p:txBody>
      </p:sp>
      <p:sp>
        <p:nvSpPr>
          <p:cNvPr id="21" name="Num 7"/>
          <p:cNvSpPr/>
          <p:nvPr/>
        </p:nvSpPr>
        <p:spPr>
          <a:xfrm>
            <a:off x="841248" y="5504688"/>
            <a:ext cx="502920" cy="502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50468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GPU i raspodijeljeni primjer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50468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chemeClr val="tx2"/>
                </a:solidFill>
              </a:rPr>
              <a:t>tjedni 13–14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C# na ovom kolegiju</a:t>
            </a:r>
          </a:p>
        </p:txBody>
      </p:sp>
      <p:sp>
        <p:nvSpPr>
          <p:cNvPr id="3" name="Col 1"/>
          <p:cNvSpPr/>
          <p:nvPr/>
        </p:nvSpPr>
        <p:spPr>
          <a:xfrm>
            <a:off x="841248" y="1645920"/>
            <a:ext cx="5212080" cy="3291840"/>
          </a:xfrm>
          <a:prstGeom prst="roundRect">
            <a:avLst>
              <a:gd name="adj" fmla="val 800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chemeClr val="accent1"/>
                </a:solidFill>
              </a:rPr>
              <a:t>Znate otprije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46888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000">
                <a:solidFill>
                  <a:schemeClr val="tx1"/>
                </a:solidFill>
              </a:rPr>
              <a:t>Objektno programiranje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>
                <a:solidFill>
                  <a:schemeClr val="tx1"/>
                </a:solidFill>
              </a:rPr>
              <a:t>Klase, generički tipovi, kolekcije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>
                <a:solidFill>
                  <a:schemeClr val="tx1"/>
                </a:solidFill>
              </a:rPr>
              <a:t>LINQ upiti</a:t>
            </a:r>
          </a:p>
        </p:txBody>
      </p:sp>
      <p:sp>
        <p:nvSpPr>
          <p:cNvPr id="6" name="Col 2"/>
          <p:cNvSpPr/>
          <p:nvPr/>
        </p:nvSpPr>
        <p:spPr>
          <a:xfrm>
            <a:off x="6327648" y="1645920"/>
            <a:ext cx="5212080" cy="3291840"/>
          </a:xfrm>
          <a:prstGeom prst="roundRect">
            <a:avLst>
              <a:gd name="adj" fmla="val 8000"/>
            </a:avLst>
          </a:prstGeom>
          <a:solidFill>
            <a:schemeClr val="accent2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chemeClr val="accent2"/>
                </a:solidFill>
              </a:rPr>
              <a:t>Novo na kolegiju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468880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000">
                <a:solidFill>
                  <a:schemeClr val="tx1"/>
                </a:solidFill>
              </a:rPr>
              <a:t>Delegati, Action, Func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>
                <a:solidFill>
                  <a:schemeClr val="tx1"/>
                </a:solidFill>
              </a:rPr>
              <a:t>Lambda izrazi i closure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>
                <a:solidFill>
                  <a:schemeClr val="tx1"/>
                </a:solidFill>
              </a:rPr>
              <a:t>Task, Parallel.For, thread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035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chemeClr val="tx2"/>
                </a:solidFill>
              </a:rPr>
              <a:t>Paralelno programiranje u C#-u počiva na funkcijama koje primaju druge funkcije. Zato vježba počinje delegatima.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Delegat: tip za metodu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002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Poznati tipovi: int, string, bool…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Delegat je tip čija vrijednost je referenca na metodu.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Potpis delegata određuje koje metode u njega stanu: ista lista parametara i isti povratni tip.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Metodu tada možemo spremiti u varijablu i predati drugoj metodi.</a:t>
            </a:r>
          </a:p>
        </p:txBody>
      </p:sp>
      <p:sp>
        <p:nvSpPr>
          <p:cNvPr id="4" name="Code decl"/>
          <p:cNvSpPr/>
          <p:nvPr/>
        </p:nvSpPr>
        <p:spPr>
          <a:xfrm>
            <a:off x="6309360" y="1645920"/>
            <a:ext cx="512064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delegate int Calc(int x);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static int Pomnozi(int x)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    =&gt; x * 50;</a:t>
            </a:r>
          </a:p>
        </p:txBody>
      </p:sp>
      <p:sp>
        <p:nvSpPr>
          <p:cNvPr id="5" name="Code use"/>
          <p:cNvSpPr/>
          <p:nvPr/>
        </p:nvSpPr>
        <p:spPr>
          <a:xfrm>
            <a:off x="6309360" y="3657600"/>
            <a:ext cx="5120640" cy="155448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Calc racun = Pomnozi;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int r = racun(100);   // 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3492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chemeClr val="tx2"/>
                </a:solidFill>
              </a:rPr>
              <a:t>Ključna riječ delegate, naziv tipa Calc.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Delegat može pozvati više metoda</a:t>
            </a:r>
          </a:p>
        </p:txBody>
      </p:sp>
      <p:sp>
        <p:nvSpPr>
          <p:cNvPr id="3" name="Code multicast"/>
          <p:cNvSpPr/>
          <p:nvPr/>
        </p:nvSpPr>
        <p:spPr>
          <a:xfrm>
            <a:off x="841248" y="1645920"/>
            <a:ext cx="5669280" cy="21945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Calc oboje = Oduzmi;</a:t>
            </a:r>
          </a:p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oboje += Pomnozi;</a:t>
            </a:r>
          </a:p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int r = oboje(100);   //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64592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Operator += dodaje metodu u listu poziva.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Pozivaju se sve metode, redom.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Rezultat poziva je vrijednost zadnje metode: 5000.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chemeClr val="tx2"/>
                </a:solidFill>
              </a:rPr>
              <a:t>Provjerite: oboje.GetInvocationList().Length je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Action, Func i Predicate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chemeClr val="tx2"/>
                </a:solidFill>
              </a:rPr>
              <a:t>Ugrađeni generički delegati: ne trebamo deklarirati vlastiti tip.</a:t>
            </a:r>
          </a:p>
        </p:txBody>
      </p:sp>
      <p:sp>
        <p:nvSpPr>
          <p:cNvPr id="4" name="Type Action"/>
          <p:cNvSpPr/>
          <p:nvPr/>
        </p:nvSpPr>
        <p:spPr>
          <a:xfrm>
            <a:off x="841248" y="2148840"/>
            <a:ext cx="1737360" cy="1005840"/>
          </a:xfrm>
          <a:prstGeom prst="roundRect">
            <a:avLst>
              <a:gd name="adj" fmla="val 12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1488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tx1"/>
                </a:solidFill>
              </a:rPr>
              <a:t>ne vraća vrijednost</a:t>
            </a:r>
          </a:p>
        </p:txBody>
      </p:sp>
      <p:sp>
        <p:nvSpPr>
          <p:cNvPr id="6" name="Ex Action"/>
          <p:cNvSpPr/>
          <p:nvPr/>
        </p:nvSpPr>
        <p:spPr>
          <a:xfrm>
            <a:off x="6583680" y="2148840"/>
            <a:ext cx="2926080" cy="1005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Action&lt;int&gt;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21488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prima int</a:t>
            </a:r>
          </a:p>
        </p:txBody>
      </p:sp>
      <p:sp>
        <p:nvSpPr>
          <p:cNvPr id="8" name="Type Func"/>
          <p:cNvSpPr/>
          <p:nvPr/>
        </p:nvSpPr>
        <p:spPr>
          <a:xfrm>
            <a:off x="841248" y="3383280"/>
            <a:ext cx="1737360" cy="1005840"/>
          </a:xfrm>
          <a:prstGeom prst="roundRect">
            <a:avLst>
              <a:gd name="adj" fmla="val 12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chemeClr val="tx1"/>
                </a:solidFill>
              </a:rPr>
              <a:t>Func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38328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tx1"/>
                </a:solidFill>
              </a:rPr>
              <a:t>vraća vrijednost (zadnji tip je povratni)</a:t>
            </a:r>
          </a:p>
        </p:txBody>
      </p:sp>
      <p:sp>
        <p:nvSpPr>
          <p:cNvPr id="10" name="Ex Func"/>
          <p:cNvSpPr/>
          <p:nvPr/>
        </p:nvSpPr>
        <p:spPr>
          <a:xfrm>
            <a:off x="6583680" y="3383280"/>
            <a:ext cx="2926080" cy="1005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Func&lt;int, int, bool&gt;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338328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prima dva inta, vraća bool</a:t>
            </a:r>
          </a:p>
        </p:txBody>
      </p:sp>
      <p:sp>
        <p:nvSpPr>
          <p:cNvPr id="12" name="Type Predicate"/>
          <p:cNvSpPr/>
          <p:nvPr/>
        </p:nvSpPr>
        <p:spPr>
          <a:xfrm>
            <a:off x="841248" y="4617720"/>
            <a:ext cx="1737360" cy="1005840"/>
          </a:xfrm>
          <a:prstGeom prst="roundRect">
            <a:avLst>
              <a:gd name="adj" fmla="val 12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chemeClr val="tx1"/>
                </a:solidFill>
              </a:rPr>
              <a:t>Predicate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6177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tx1"/>
                </a:solidFill>
              </a:rPr>
              <a:t>vraća bool</a:t>
            </a:r>
          </a:p>
        </p:txBody>
      </p:sp>
      <p:sp>
        <p:nvSpPr>
          <p:cNvPr id="14" name="Ex Predicate"/>
          <p:cNvSpPr/>
          <p:nvPr/>
        </p:nvSpPr>
        <p:spPr>
          <a:xfrm>
            <a:off x="6583680" y="4617720"/>
            <a:ext cx="2926080" cy="1005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Predicate&lt;int&gt;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61772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prima int, vraća bool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Lambda izraz: funkcija bez imena</a:t>
            </a:r>
          </a:p>
        </p:txBody>
      </p:sp>
      <p:sp>
        <p:nvSpPr>
          <p:cNvPr id="3" name="Code form"/>
          <p:cNvSpPr/>
          <p:nvPr/>
        </p:nvSpPr>
        <p:spPr>
          <a:xfrm>
            <a:off x="841248" y="1554480"/>
            <a:ext cx="5394960" cy="914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2200" b="0">
                <a:solidFill>
                  <a:schemeClr val="bg1"/>
                </a:solidFill>
                <a:latin typeface="Consolas"/>
              </a:rPr>
              <a:t>(parametri) =&gt; izraz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Piše se na mjestu gdje se koristi.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Zamjenjuje metodu koju bismo inače morali imenovati.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Tipove parametara kompajler najčešće zaključi sam.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Za više naredbi koristimo { } i return.</a:t>
            </a:r>
          </a:p>
        </p:txBody>
      </p:sp>
      <p:sp>
        <p:nvSpPr>
          <p:cNvPr id="5" name="Code examples"/>
          <p:cNvSpPr/>
          <p:nvPr/>
        </p:nvSpPr>
        <p:spPr>
          <a:xfrm>
            <a:off x="6583680" y="1554480"/>
            <a:ext cx="4846320" cy="39319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() =&gt; 4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(a, b) =&gt; a + b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x =&gt; x % 2 == 0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s =&gt; Console.WriteLine(s)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() =&gt;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{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    int a = 5;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    return a + 2;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Closure: lambda hvata varijablu</a:t>
            </a:r>
          </a:p>
        </p:txBody>
      </p:sp>
      <p:sp>
        <p:nvSpPr>
          <p:cNvPr id="3" name="Code closure"/>
          <p:cNvSpPr/>
          <p:nvPr/>
        </p:nvSpPr>
        <p:spPr>
          <a:xfrm>
            <a:off x="841248" y="1554480"/>
            <a:ext cx="5486400" cy="26517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int faktor = 3;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Func&lt;int, int&gt; puta = x =&gt; x * faktor;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Console.WriteLine(puta(5));   // 15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faktor = 10;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Console.WriteLine(puta(5));   //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155448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Lambda ne kopira vrijednost faktora, nego pamti samu varijablu.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Zato druga promjena mijenja rezultat.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Tu leži zamka koju vidimo u vježbi 2: petlja for ima jednu varijablu za sve iteracije.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chemeClr val="tx2"/>
                </a:solidFill>
              </a:rPr>
              <a:t>Pravilo: kad lambda ide u drugi task, u tijelu petlje spremite vrijednost u lokalnu varijablu (int j = i;) i koristite nju.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Funkcije višeg reda i LINQ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0020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2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Funkcija višeg reda prima funkciju kao parametar ili je vraća.</a:t>
            </a:r>
          </a:p>
          <a:p>
            <a:pPr marL="285750" indent="-285750">
              <a:spcAft>
                <a:spcPts val="12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Task.Run i Parallel.For su takve funkcije.</a:t>
            </a:r>
          </a:p>
          <a:p>
            <a:pPr marL="285750" indent="-285750">
              <a:spcAft>
                <a:spcPts val="1200"/>
              </a:spcAft>
              <a:buChar char="•"/>
            </a:pPr>
            <a:r>
              <a:rPr sz="1900">
                <a:solidFill>
                  <a:schemeClr val="tx1"/>
                </a:solidFill>
              </a:rPr>
              <a:t>LINQ je biblioteka za upite nad kolekcijama. Većina njegovih metoda prima delegat.</a:t>
            </a:r>
          </a:p>
        </p:txBody>
      </p:sp>
      <p:sp>
        <p:nvSpPr>
          <p:cNvPr id="4" name="Code linq"/>
          <p:cNvSpPr/>
          <p:nvPr/>
        </p:nvSpPr>
        <p:spPr>
          <a:xfrm>
            <a:off x="6583680" y="1645920"/>
            <a:ext cx="4846320" cy="31089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int[] niz = { 5, -2, 9, 0, -7, 4 };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niz.Where(x =&gt; x &gt; 0)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niz.Select(x =&gt; x * x)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niz.Aggregate((a, b) =&gt; a + 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9377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chemeClr val="tx2"/>
                </a:solidFill>
              </a:rPr>
              <a:t>Where = Filter, Select = Map, Aggregate = Reduce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Generička klasa: Stog&lt;T&gt;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00200"/>
            <a:ext cx="5029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 je oznaka za tip koji se odabere tek pri korištenju klase.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Isti kod radi za int, string ili bilo koji drugi tip.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Stog radi po pravilu zadnji unutra, prvi van: Stavi dodaje na vrh, Skini uzima s vrha.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Metode generičke klase mogu primati delegate, npr. Action&lt;T&gt; ili Predicate&lt;T&gt;.</a:t>
            </a:r>
          </a:p>
        </p:txBody>
      </p:sp>
      <p:sp>
        <p:nvSpPr>
          <p:cNvPr id="4" name="Code class"/>
          <p:cNvSpPr/>
          <p:nvPr/>
        </p:nvSpPr>
        <p:spPr>
          <a:xfrm>
            <a:off x="6217920" y="1554480"/>
            <a:ext cx="5212080" cy="2148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class Stog&lt;T&gt;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{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List&lt;T&gt; elementi = new();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public void Stavi(T x) { ... }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public T Skini() { ... }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}</a:t>
            </a:r>
          </a:p>
        </p:txBody>
      </p:sp>
      <p:sp>
        <p:nvSpPr>
          <p:cNvPr id="5" name="Code use"/>
          <p:cNvSpPr/>
          <p:nvPr/>
        </p:nvSpPr>
        <p:spPr>
          <a:xfrm>
            <a:off x="6217920" y="3840480"/>
            <a:ext cx="5212080" cy="12344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var brojevi = new Stog&lt;int&gt;();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brojevi.Stavi(10);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var rijeci = new Stog&lt;string&gt;();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rijeci.Stavi("paralelno");</a:t>
            </a:r>
          </a:p>
        </p:txBody>
      </p:sp>
      <p:sp>
        <p:nvSpPr>
          <p:cNvPr id="6" name="Code generic method"/>
          <p:cNvSpPr/>
          <p:nvPr/>
        </p:nvSpPr>
        <p:spPr>
          <a:xfrm>
            <a:off x="841248" y="5257800"/>
            <a:ext cx="10588752" cy="685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static void Primijeni&lt;T&gt;(T[] niz, Action&lt;T&gt; akcija)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Primjer generičke metode koja prima delegat. Slično ćete napraviti u zadatku 5, ali unutar klase Stog&lt;T&gt;.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1: delegati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delegat Calc(int x) te metode Oduzmi i Pomnozi (konstanta n = 50).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Dodajte metodu Podijeli koja vraća x / n i pozovite je kroz delegat.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93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Napravite jedan delegat koji pri pozivu izvršava i Oduzmi i Pomnozi te ga pozovite s 100.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754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36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Ispišite oboje.GetInvocationList().Length. Koju vrijednost vraća poziv i zašto?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2" name="Code output"/>
          <p:cNvSpPr/>
          <p:nvPr/>
        </p:nvSpPr>
        <p:spPr>
          <a:xfrm>
            <a:off x="7223760" y="2468880"/>
            <a:ext cx="4206240" cy="2468879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Oduzmi(100)  = 50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Pomnozi(100) = 5000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Podijeli(100) = 2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oboje(100) = 5000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Broj metoda u listi poziva: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2: univerzalna funkcija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delegat Uvjet, funkcija Ispisi(niz, uvjet) te uvjeti JeParan i JeVeciOdDeset.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Napišite uvjet JeDjeljivSTri i pozovite Ispisi s njim.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93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Promijenite Ispisi tako da vrati broj ispisanih elemenata, pa taj broj ispišite.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0" name="Code output"/>
          <p:cNvSpPr/>
          <p:nvPr/>
        </p:nvSpPr>
        <p:spPr>
          <a:xfrm>
            <a:off x="7223760" y="2468880"/>
            <a:ext cx="4206240" cy="2121408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Parni: 8 12 20 4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Veći od 10: 12 15 20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Djeljivi s 3: 3 12 15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Ispisano elemenata: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3: lambda izrazi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lambde kvadrat i zbroji te primjer s closureom (varijabla faktor).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Pokrenite program. Zašto prvi poziv puta(5) daje 15, a drugi 50?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93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Napišite lambdu za apsolutnu vrijednost bez Math.Abs i ispišite abs(-8).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754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36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Napišite lambdu bez parametara koja ispisuje trenutno vrijeme i pozovite je (treba vam Action, vidi zadatak 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2" name="Code output"/>
          <p:cNvSpPr/>
          <p:nvPr/>
        </p:nvSpPr>
        <p:spPr>
          <a:xfrm>
            <a:off x="7223760" y="2468880"/>
            <a:ext cx="4206240" cy="2816352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kvadrat(7) = 49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zbroj 1..10 = 55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puta(5), faktor = 3: 15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puta(5), faktor = 10: 50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abs(-8) = 8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Trenutno vrijeme: 17:56:03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4: generički delegati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primjeri s Func, Action i Predicate te niz { 5, -2, 9, 0, -7, 4 }.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Napišite lambdu tipa Func&lt;double, double, double&gt; koja računa hipotenuzu pravokutnog trokuta s katetama a i b (Math.Sqrt) te je pozovite s 3 i 4.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93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Pomoću Array.FindAll i Predicate&lt;int&gt; pronađite parne brojeve niza i ispišite ih.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754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36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Napišite lambdu tipa Action&lt;int[]&gt; (prima niz cijelih brojeva, ne vraća ništa) koja ispisuje sve elemente niza odvojene razmakom u jednom retku. Spremite je u varijablu i pozovite s nizom iz zadatka.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2" name="Code output"/>
          <p:cNvSpPr/>
          <p:nvPr/>
        </p:nvSpPr>
        <p:spPr>
          <a:xfrm>
            <a:off x="7223760" y="2468880"/>
            <a:ext cx="4206240" cy="1773936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Hipotenuza(3, 4) = 5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Parni: -2, 0, 4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5 -2 9 0 -7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5: generička klasa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klasa Stog&lt;T&gt; s metodama Stavi, Skini i svojstvom Velicina.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Dodajte metodu ZaSvaki(Action&lt;T&gt;) koja za svaki element (od vrha prema dnu) poziva akciju.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93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Dodajte metodu Broji(Predicate&lt;T&gt;) koja vraća broj elemenata koji zadovoljavaju uvjet.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754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3659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 stogu riječi ispišite elemente s ZaSvaki, a na stogu brojeva (nakon Skini) prebrojite one veće od 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2" name="Code output"/>
          <p:cNvSpPr/>
          <p:nvPr/>
        </p:nvSpPr>
        <p:spPr>
          <a:xfrm>
            <a:off x="7223760" y="2468880"/>
            <a:ext cx="4206240" cy="2121408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Skinuto: 50, veličina: 4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programiranje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paralelno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Brojeva većih od 20: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[1] Microsoft Learn: Delegates — learn.microsoft.com/en-us/dotnet/csharp/programming-guide/delegates/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[2] Microsoft Learn: Lambda expressions — learn.microsoft.com/en-us/dotnet/csharp/language-reference/operators/lambda-expressions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[3] Microsoft Learn: foreach i hvatanje varijable — learn.microsoft.com/en-us/dotnet/csharp/language-reference/statements/iteration-statements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1349</Words>
  <Application>Microsoft Office PowerPoint</Application>
  <PresentationFormat>Widescreen</PresentationFormat>
  <Paragraphs>135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Open Sans</vt:lpstr>
      <vt:lpstr>Office Theme</vt:lpstr>
      <vt:lpstr>Custom Design</vt:lpstr>
      <vt:lpstr>Paralelno programiranje</vt:lpstr>
      <vt:lpstr>1. Paralelno izvršavanje programa</vt:lpstr>
      <vt:lpstr>Ubrzanje izračuna</vt:lpstr>
      <vt:lpstr>Paralelizam na razini strojnih instrukcija</vt:lpstr>
      <vt:lpstr>Oblici paralelizma</vt:lpstr>
      <vt:lpstr>Računalne arhitekture</vt:lpstr>
      <vt:lpstr>PowerPoint Presentation</vt:lpstr>
      <vt:lpstr>PowerPoint Presentation</vt:lpstr>
      <vt:lpstr>Sekvencijalni program</vt:lpstr>
      <vt:lpstr>Paralelni program</vt:lpstr>
      <vt:lpstr>Paralelni problem</vt:lpstr>
      <vt:lpstr>Tko koristi paralelno računanje?</vt:lpstr>
      <vt:lpstr>PowerPoint Presentation</vt:lpstr>
      <vt:lpstr>Tko koristi paralelno računanje?</vt:lpstr>
      <vt:lpstr>PowerPoint Presentation</vt:lpstr>
      <vt:lpstr>PowerPoint Presentation</vt:lpstr>
      <vt:lpstr>Obrada signala </vt:lpstr>
      <vt:lpstr>Modeliranje klime </vt:lpstr>
      <vt:lpstr>Modeliranje klime </vt:lpstr>
      <vt:lpstr>Veliki jezični model (engl. LLM) </vt:lpstr>
      <vt:lpstr>Autonomna vozila </vt:lpstr>
      <vt:lpstr>Autonomna vozila </vt:lpstr>
      <vt:lpstr>Autonomna vozila </vt:lpstr>
      <vt:lpstr>Zašto koristiti paralelno računanje? </vt:lpstr>
      <vt:lpstr>PowerPoint Presentation</vt:lpstr>
      <vt:lpstr>Dizajniranje paralelnih programa Automatska naspram ručne paralelizacije</vt:lpstr>
      <vt:lpstr>Dizajniranje paralelnih programa Potpuno automatski</vt:lpstr>
      <vt:lpstr>Dizajniranje paralelnih programa Programer</vt:lpstr>
      <vt:lpstr>Paralelna računala</vt:lpstr>
      <vt:lpstr>2. Flinnova klasična taksonomija</vt:lpstr>
      <vt:lpstr>Multiple Instruction, Multiple Data (MIMD)</vt:lpstr>
      <vt:lpstr>3. Amdahlov zakon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Tonći</dc:creator>
  <cp:lastModifiedBy>Tonći</cp:lastModifiedBy>
  <cp:revision>68</cp:revision>
  <dcterms:created xsi:type="dcterms:W3CDTF">2025-01-23T20:12:32Z</dcterms:created>
  <dcterms:modified xsi:type="dcterms:W3CDTF">2025-10-06T20:43:31Z</dcterms:modified>
</cp:coreProperties>
</file>